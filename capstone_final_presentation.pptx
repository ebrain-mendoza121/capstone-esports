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89B3C"/>
          </a:solidFill>
          <a:ln w="12700">
            <a:solidFill>
              <a:srgbClr val="C89B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54864" cy="5070348"/>
          </a:xfrm>
          <a:prstGeom prst="rect">
            <a:avLst/>
          </a:prstGeom>
          <a:solidFill>
            <a:srgbClr val="0596AA"/>
          </a:solidFill>
          <a:ln w="12700">
            <a:solidFill>
              <a:srgbClr val="0596A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182880"/>
            <a:ext cx="8412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CIIC / INSO 4151  |  Senior Capstone Design  |  University of Puerto Rico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84048" y="512064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F0E6D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Esports Analytics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384048" y="1152144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C89B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Platform</a:t>
            </a:r>
            <a:endParaRPr lang="en-US" sz="4600" dirty="0"/>
          </a:p>
        </p:txBody>
      </p:sp>
      <p:sp>
        <p:nvSpPr>
          <p:cNvPr id="7" name="Shape 5"/>
          <p:cNvSpPr/>
          <p:nvPr/>
        </p:nvSpPr>
        <p:spPr>
          <a:xfrm>
            <a:off x="384048" y="1810512"/>
            <a:ext cx="3840480" cy="36576"/>
          </a:xfrm>
          <a:prstGeom prst="rect">
            <a:avLst/>
          </a:prstGeom>
          <a:solidFill>
            <a:srgbClr val="C89B3C"/>
          </a:solidFill>
          <a:ln w="12700">
            <a:solidFill>
              <a:srgbClr val="C89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1920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League of Legends Match Analytics, ML Predictions &amp; Team Composition Intelligence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84048" y="2414016"/>
            <a:ext cx="3474720" cy="877824"/>
          </a:xfrm>
          <a:prstGeom prst="rect">
            <a:avLst/>
          </a:prstGeom>
          <a:solidFill>
            <a:srgbClr val="16213E"/>
          </a:solidFill>
          <a:ln w="11430">
            <a:solidFill>
              <a:srgbClr val="0596A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75488" y="2487168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05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DEVELOPER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75488" y="2697480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0E6D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Ebrain Mendoza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75488" y="2990088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2026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114800" y="2432304"/>
            <a:ext cx="1572768" cy="347472"/>
          </a:xfrm>
          <a:prstGeom prst="rect">
            <a:avLst/>
          </a:prstGeom>
          <a:solidFill>
            <a:srgbClr val="1A2847"/>
          </a:solidFill>
          <a:ln w="7620">
            <a:solidFill>
              <a:srgbClr val="C89B3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0" y="2432304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788152" y="2432304"/>
            <a:ext cx="1572768" cy="347472"/>
          </a:xfrm>
          <a:prstGeom prst="rect">
            <a:avLst/>
          </a:prstGeom>
          <a:solidFill>
            <a:srgbClr val="1A2847"/>
          </a:solidFill>
          <a:ln w="7620">
            <a:solidFill>
              <a:srgbClr val="C89B3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788152" y="2432304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14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461504" y="2432304"/>
            <a:ext cx="1572768" cy="347472"/>
          </a:xfrm>
          <a:prstGeom prst="rect">
            <a:avLst/>
          </a:prstGeom>
          <a:solidFill>
            <a:srgbClr val="1A2847"/>
          </a:solidFill>
          <a:ln w="7620">
            <a:solidFill>
              <a:srgbClr val="C89B3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61504" y="2432304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114800" y="2871216"/>
            <a:ext cx="1572768" cy="347472"/>
          </a:xfrm>
          <a:prstGeom prst="rect">
            <a:avLst/>
          </a:prstGeom>
          <a:solidFill>
            <a:srgbClr val="1A2847"/>
          </a:solidFill>
          <a:ln w="7620">
            <a:solidFill>
              <a:srgbClr val="C89B3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0" y="2871216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788152" y="2871216"/>
            <a:ext cx="1572768" cy="347472"/>
          </a:xfrm>
          <a:prstGeom prst="rect">
            <a:avLst/>
          </a:prstGeom>
          <a:solidFill>
            <a:srgbClr val="1A2847"/>
          </a:solidFill>
          <a:ln w="7620">
            <a:solidFill>
              <a:srgbClr val="C89B3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788152" y="2871216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461504" y="2871216"/>
            <a:ext cx="1572768" cy="347472"/>
          </a:xfrm>
          <a:prstGeom prst="rect">
            <a:avLst/>
          </a:prstGeom>
          <a:solidFill>
            <a:srgbClr val="1A2847"/>
          </a:solidFill>
          <a:ln w="7620">
            <a:solidFill>
              <a:srgbClr val="C89B3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461504" y="2871216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Railway + Vercel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84048" y="3419856"/>
            <a:ext cx="8412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analytics platform with 7 ML models, live Riot API match ingestion,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champion recommendations, team composition analysis, and ML-backed win predictions.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384048" y="4133088"/>
            <a:ext cx="1572768" cy="676656"/>
          </a:xfrm>
          <a:prstGeom prst="rect">
            <a:avLst/>
          </a:prstGeom>
          <a:solidFill>
            <a:srgbClr val="16213E"/>
          </a:solidFill>
          <a:ln w="7620">
            <a:solidFill>
              <a:srgbClr val="C89B3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84048" y="4169664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8B8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384048" y="4517136"/>
            <a:ext cx="1572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066544" y="4133088"/>
            <a:ext cx="1572768" cy="676656"/>
          </a:xfrm>
          <a:prstGeom prst="rect">
            <a:avLst/>
          </a:prstGeom>
          <a:solidFill>
            <a:srgbClr val="16213E"/>
          </a:solidFill>
          <a:ln w="7620">
            <a:solidFill>
              <a:srgbClr val="C89B3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2066544" y="4169664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8B8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14,205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2066544" y="4517136"/>
            <a:ext cx="1572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749040" y="4133088"/>
            <a:ext cx="1572768" cy="676656"/>
          </a:xfrm>
          <a:prstGeom prst="rect">
            <a:avLst/>
          </a:prstGeom>
          <a:solidFill>
            <a:srgbClr val="16213E"/>
          </a:solidFill>
          <a:ln w="7620">
            <a:solidFill>
              <a:srgbClr val="C89B3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3749040" y="4169664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8B8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36,100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3749040" y="4517136"/>
            <a:ext cx="1572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Rows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431536" y="4133088"/>
            <a:ext cx="1572768" cy="676656"/>
          </a:xfrm>
          <a:prstGeom prst="rect">
            <a:avLst/>
          </a:prstGeom>
          <a:solidFill>
            <a:srgbClr val="16213E"/>
          </a:solidFill>
          <a:ln w="7620">
            <a:solidFill>
              <a:srgbClr val="C89B3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5431536" y="4169664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8B8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100%</a:t>
            </a:r>
            <a:endParaRPr lang="en-US" sz="2000" dirty="0"/>
          </a:p>
        </p:txBody>
      </p:sp>
      <p:sp>
        <p:nvSpPr>
          <p:cNvPr id="37" name="Text 35"/>
          <p:cNvSpPr/>
          <p:nvPr/>
        </p:nvSpPr>
        <p:spPr>
          <a:xfrm>
            <a:off x="5431536" y="4517136"/>
            <a:ext cx="1572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7114032" y="4133088"/>
            <a:ext cx="1572768" cy="676656"/>
          </a:xfrm>
          <a:prstGeom prst="rect">
            <a:avLst/>
          </a:prstGeom>
          <a:solidFill>
            <a:srgbClr val="16213E"/>
          </a:solidFill>
          <a:ln w="7620">
            <a:solidFill>
              <a:srgbClr val="C89B3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7114032" y="4169664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8B8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$0/mo</a:t>
            </a:r>
            <a:endParaRPr lang="en-US" sz="2000" dirty="0"/>
          </a:p>
        </p:txBody>
      </p:sp>
      <p:sp>
        <p:nvSpPr>
          <p:cNvPr id="40" name="Text 38"/>
          <p:cNvSpPr/>
          <p:nvPr/>
        </p:nvSpPr>
        <p:spPr>
          <a:xfrm>
            <a:off x="7114032" y="4517136"/>
            <a:ext cx="1572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 Cost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596AA"/>
          </a:solidFill>
          <a:ln w="12700">
            <a:solidFill>
              <a:srgbClr val="0596AA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89B3C"/>
          </a:solidFill>
          <a:ln w="12700">
            <a:solidFill>
              <a:srgbClr val="C89B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46304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400" kern="0" dirty="0">
                <a:solidFill>
                  <a:srgbClr val="05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39319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0E6D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Esports Analytics Gap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932688"/>
            <a:ext cx="8138160" cy="22860"/>
          </a:xfrm>
          <a:prstGeom prst="rect">
            <a:avLst/>
          </a:prstGeom>
          <a:solidFill>
            <a:srgbClr val="C89B3C"/>
          </a:solidFill>
          <a:ln w="12700">
            <a:solidFill>
              <a:srgbClr val="C89B3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024128"/>
            <a:ext cx="3977640" cy="3730752"/>
          </a:xfrm>
          <a:prstGeom prst="rect">
            <a:avLst/>
          </a:prstGeom>
          <a:solidFill>
            <a:srgbClr val="16213E"/>
          </a:solidFill>
          <a:ln w="7620">
            <a:solidFill>
              <a:srgbClr val="C89B3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097280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9B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Landscape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1463040"/>
            <a:ext cx="3657600" cy="3145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F0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Collegiate and amateur esports is growing rapidly into a highly competitive discipline, yet accessible tooling for objective player and team analysis remains fragmented.</a:t>
            </a:r>
            <a:endParaRPr lang="en-US" sz="1200" dirty="0"/>
          </a:p>
          <a:p>
            <a:pPr algn="l" indent="0" marL="0">
              <a:spcAft>
                <a:spcPts val="800"/>
              </a:spcAft>
              <a:buNone/>
            </a:pPr>
            <a:endParaRPr lang="en-US" sz="12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F0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platforms — OP.GG, Mobalytics, League of Graphs — require paid subscriptions, expose only limited historical data, and lack ML-driven insights tailored to a specific team roster.</a:t>
            </a:r>
            <a:endParaRPr lang="en-US" sz="1200" dirty="0"/>
          </a:p>
          <a:p>
            <a:pPr algn="l" indent="0" marL="0">
              <a:spcAft>
                <a:spcPts val="800"/>
              </a:spcAft>
              <a:buNone/>
            </a:pPr>
            <a:endParaRPr lang="en-US" sz="12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F0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Coaches are left manually reviewing VODs and tracking stats in spreadsheets — no automation, no predictions, no single source of truth.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434840" y="1024128"/>
            <a:ext cx="4434840" cy="841248"/>
          </a:xfrm>
          <a:prstGeom prst="rect">
            <a:avLst/>
          </a:prstGeom>
          <a:solidFill>
            <a:srgbClr val="1A2847"/>
          </a:solidFill>
          <a:ln w="7620">
            <a:solidFill>
              <a:srgbClr val="C89B3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434840" y="1024128"/>
            <a:ext cx="54864" cy="841248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0" y="1097280"/>
            <a:ext cx="329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9456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X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937760" y="109728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0E6D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 Single Source of Truth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937760" y="1389888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history and stats scattered across third-party sites with no unified view.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434840" y="1956816"/>
            <a:ext cx="4434840" cy="841248"/>
          </a:xfrm>
          <a:prstGeom prst="rect">
            <a:avLst/>
          </a:prstGeom>
          <a:solidFill>
            <a:srgbClr val="1A2847"/>
          </a:solidFill>
          <a:ln w="7620">
            <a:solidFill>
              <a:srgbClr val="C89B3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434840" y="1956816"/>
            <a:ext cx="54864" cy="841248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0" y="2029968"/>
            <a:ext cx="329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9456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X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937760" y="202996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0E6D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 Predictive Layer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937760" y="2322576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Platforms show raw stats but cannot predict future performance or win probability.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434840" y="2889504"/>
            <a:ext cx="4434840" cy="841248"/>
          </a:xfrm>
          <a:prstGeom prst="rect">
            <a:avLst/>
          </a:prstGeom>
          <a:solidFill>
            <a:srgbClr val="1A2847"/>
          </a:solidFill>
          <a:ln w="7620">
            <a:solidFill>
              <a:srgbClr val="C89B3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434840" y="2889504"/>
            <a:ext cx="54864" cy="841248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0" y="2962656"/>
            <a:ext cx="329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9456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X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937760" y="296265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0E6D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 Team Composition Analysis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937760" y="3255264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Matchup and draft tools are completely siloed from player performance data.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434840" y="3822192"/>
            <a:ext cx="4434840" cy="841248"/>
          </a:xfrm>
          <a:prstGeom prst="rect">
            <a:avLst/>
          </a:prstGeom>
          <a:solidFill>
            <a:srgbClr val="1A2847"/>
          </a:solidFill>
          <a:ln w="7620">
            <a:solidFill>
              <a:srgbClr val="C89B3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434840" y="3822192"/>
            <a:ext cx="54864" cy="841248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0" y="3895344"/>
            <a:ext cx="329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9456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X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937760" y="389534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0E6D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Manual Data Collection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4937760" y="4187952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Coaches track stats in spreadsheets with zero automation or derived metrics.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596AA"/>
          </a:solidFill>
          <a:ln w="12700">
            <a:solidFill>
              <a:srgbClr val="0596AA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89B3C"/>
          </a:solidFill>
          <a:ln w="12700">
            <a:solidFill>
              <a:srgbClr val="C89B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46304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400" kern="0" dirty="0">
                <a:solidFill>
                  <a:srgbClr val="05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39319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0E6D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Problem Statement &amp; Target Users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932688"/>
            <a:ext cx="8138160" cy="22860"/>
          </a:xfrm>
          <a:prstGeom prst="rect">
            <a:avLst/>
          </a:prstGeom>
          <a:solidFill>
            <a:srgbClr val="C89B3C"/>
          </a:solidFill>
          <a:ln w="12700">
            <a:solidFill>
              <a:srgbClr val="C89B3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024128"/>
            <a:ext cx="8595360" cy="1115568"/>
          </a:xfrm>
          <a:prstGeom prst="rect">
            <a:avLst/>
          </a:prstGeom>
          <a:solidFill>
            <a:srgbClr val="0D1E35"/>
          </a:solidFill>
          <a:ln w="19050">
            <a:solidFill>
              <a:srgbClr val="0596A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07899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05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457200" y="1280160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F0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Coaches and players in collegiate esports lack a unified, data-driven analytics platform that can ingest their team's match history, compute normalized performance KPIs, and deliver ML-backed predictions and champion recommendations — all in a single web application.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74320" y="2304288"/>
            <a:ext cx="2697480" cy="2487168"/>
          </a:xfrm>
          <a:prstGeom prst="rect">
            <a:avLst/>
          </a:prstGeom>
          <a:solidFill>
            <a:srgbClr val="16213E"/>
          </a:solidFill>
          <a:ln w="7620">
            <a:solidFill>
              <a:srgbClr val="C89B3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2304288"/>
            <a:ext cx="2697480" cy="91440"/>
          </a:xfrm>
          <a:prstGeom prst="rect">
            <a:avLst/>
          </a:prstGeom>
          <a:solidFill>
            <a:srgbClr val="0596AA"/>
          </a:solidFill>
          <a:ln w="12700">
            <a:solidFill>
              <a:srgbClr val="0596A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298448" y="2468880"/>
            <a:ext cx="658368" cy="658368"/>
          </a:xfrm>
          <a:prstGeom prst="oval">
            <a:avLst/>
          </a:prstGeom>
          <a:solidFill>
            <a:srgbClr val="0596AA"/>
          </a:solidFill>
          <a:ln w="12700">
            <a:solidFill>
              <a:srgbClr val="0596A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98448" y="2487168"/>
            <a:ext cx="65836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80D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84048" y="3200400"/>
            <a:ext cx="24871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E6D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Esports Coaches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932688" y="3529584"/>
            <a:ext cx="1389888" cy="22860"/>
          </a:xfrm>
          <a:prstGeom prst="rect">
            <a:avLst/>
          </a:prstGeom>
          <a:solidFill>
            <a:srgbClr val="0596AA"/>
          </a:solidFill>
          <a:ln w="12700">
            <a:solidFill>
              <a:srgbClr val="0596A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4048" y="3602736"/>
            <a:ext cx="248716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objective player benchmarks, draft analysis, and performance reports — without manual VOD review or spreadsheet tracking.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154680" y="2304288"/>
            <a:ext cx="2697480" cy="2487168"/>
          </a:xfrm>
          <a:prstGeom prst="rect">
            <a:avLst/>
          </a:prstGeom>
          <a:solidFill>
            <a:srgbClr val="16213E"/>
          </a:solidFill>
          <a:ln w="7620">
            <a:solidFill>
              <a:srgbClr val="C89B3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154680" y="2304288"/>
            <a:ext cx="2697480" cy="91440"/>
          </a:xfrm>
          <a:prstGeom prst="rect">
            <a:avLst/>
          </a:prstGeom>
          <a:solidFill>
            <a:srgbClr val="C89B3C"/>
          </a:solidFill>
          <a:ln w="12700">
            <a:solidFill>
              <a:srgbClr val="C89B3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178808" y="2468880"/>
            <a:ext cx="658368" cy="658368"/>
          </a:xfrm>
          <a:prstGeom prst="oval">
            <a:avLst/>
          </a:prstGeom>
          <a:solidFill>
            <a:srgbClr val="C89B3C"/>
          </a:solidFill>
          <a:ln w="12700">
            <a:solidFill>
              <a:srgbClr val="C89B3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78808" y="2487168"/>
            <a:ext cx="65836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80D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3264408" y="3200400"/>
            <a:ext cx="24871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E6D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Competitive Players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813048" y="3529584"/>
            <a:ext cx="1389888" cy="22860"/>
          </a:xfrm>
          <a:prstGeom prst="rect">
            <a:avLst/>
          </a:prstGeom>
          <a:solidFill>
            <a:srgbClr val="C89B3C"/>
          </a:solidFill>
          <a:ln w="12700">
            <a:solidFill>
              <a:srgbClr val="C89B3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64408" y="3602736"/>
            <a:ext cx="248716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Want personalized performance data, champion recommendations, and pre-match win probability tailored to their match history.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035040" y="2304288"/>
            <a:ext cx="2697480" cy="2487168"/>
          </a:xfrm>
          <a:prstGeom prst="rect">
            <a:avLst/>
          </a:prstGeom>
          <a:solidFill>
            <a:srgbClr val="16213E"/>
          </a:solidFill>
          <a:ln w="7620">
            <a:solidFill>
              <a:srgbClr val="C89B3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035040" y="2304288"/>
            <a:ext cx="2697480" cy="91440"/>
          </a:xfrm>
          <a:prstGeom prst="rect">
            <a:avLst/>
          </a:prstGeom>
          <a:solidFill>
            <a:srgbClr val="9D4EDD"/>
          </a:solidFill>
          <a:ln w="12700">
            <a:solidFill>
              <a:srgbClr val="9D4ED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059168" y="2468880"/>
            <a:ext cx="658368" cy="658368"/>
          </a:xfrm>
          <a:prstGeom prst="oval">
            <a:avLst/>
          </a:prstGeom>
          <a:solidFill>
            <a:srgbClr val="9D4EDD"/>
          </a:solidFill>
          <a:ln w="12700">
            <a:solidFill>
              <a:srgbClr val="9D4ED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059168" y="2487168"/>
            <a:ext cx="65836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80D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6144768" y="3200400"/>
            <a:ext cx="24871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E6D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Team Managers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693408" y="3529584"/>
            <a:ext cx="1389888" cy="22860"/>
          </a:xfrm>
          <a:prstGeom prst="rect">
            <a:avLst/>
          </a:prstGeom>
          <a:solidFill>
            <a:srgbClr val="9D4EDD"/>
          </a:solidFill>
          <a:ln w="12700">
            <a:solidFill>
              <a:srgbClr val="9D4ED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144768" y="3602736"/>
            <a:ext cx="248716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 team-level composition evaluation and matchup intelligence for data-driven roster and draft decisions.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596AA"/>
          </a:solidFill>
          <a:ln w="12700">
            <a:solidFill>
              <a:srgbClr val="0596AA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89B3C"/>
          </a:solidFill>
          <a:ln w="12700">
            <a:solidFill>
              <a:srgbClr val="C89B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46304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400" kern="0" dirty="0">
                <a:solidFill>
                  <a:srgbClr val="05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 OBJECTIVES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39319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0E6D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SMART Goals — Success Criteria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932688"/>
            <a:ext cx="8138160" cy="22860"/>
          </a:xfrm>
          <a:prstGeom prst="rect">
            <a:avLst/>
          </a:prstGeom>
          <a:solidFill>
            <a:srgbClr val="C89B3C"/>
          </a:solidFill>
          <a:ln w="12700">
            <a:solidFill>
              <a:srgbClr val="C89B3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024128"/>
            <a:ext cx="8595360" cy="676656"/>
          </a:xfrm>
          <a:prstGeom prst="rect">
            <a:avLst/>
          </a:prstGeom>
          <a:solidFill>
            <a:srgbClr val="16213E"/>
          </a:solidFill>
          <a:ln w="6350">
            <a:solidFill>
              <a:srgbClr val="C89B3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024128"/>
            <a:ext cx="658368" cy="676656"/>
          </a:xfrm>
          <a:prstGeom prst="rect">
            <a:avLst/>
          </a:prstGeom>
          <a:solidFill>
            <a:srgbClr val="0596AA"/>
          </a:solidFill>
          <a:ln w="12700">
            <a:solidFill>
              <a:srgbClr val="0596A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188720"/>
            <a:ext cx="6583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0E6D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24128" y="1078992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9B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Derived Metric Coverage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24128" y="1353312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of 6 normalized KPIs (KDA, CS/min, Gold/min, Kill Participation, Damage Share, Vision/min) across ingested rows must reach 95% or higher.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4320" y="1773936"/>
            <a:ext cx="8595360" cy="676656"/>
          </a:xfrm>
          <a:prstGeom prst="rect">
            <a:avLst/>
          </a:prstGeom>
          <a:solidFill>
            <a:srgbClr val="1A2847"/>
          </a:solidFill>
          <a:ln w="6350">
            <a:solidFill>
              <a:srgbClr val="C89B3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74320" y="1773936"/>
            <a:ext cx="658368" cy="676656"/>
          </a:xfrm>
          <a:prstGeom prst="rect">
            <a:avLst/>
          </a:prstGeom>
          <a:solidFill>
            <a:srgbClr val="0596AA"/>
          </a:solidFill>
          <a:ln w="12700">
            <a:solidFill>
              <a:srgbClr val="0596A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1938528"/>
            <a:ext cx="6583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0E6D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24128" y="1828800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9B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API Response Time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24128" y="210312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analytics endpoints must respond under 2,000 ms under normal load conditions.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2523744"/>
            <a:ext cx="8595360" cy="676656"/>
          </a:xfrm>
          <a:prstGeom prst="rect">
            <a:avLst/>
          </a:prstGeom>
          <a:solidFill>
            <a:srgbClr val="16213E"/>
          </a:solidFill>
          <a:ln w="6350">
            <a:solidFill>
              <a:srgbClr val="C89B3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2523744"/>
            <a:ext cx="658368" cy="676656"/>
          </a:xfrm>
          <a:prstGeom prst="rect">
            <a:avLst/>
          </a:prstGeom>
          <a:solidFill>
            <a:srgbClr val="0596AA"/>
          </a:solidFill>
          <a:ln w="12700">
            <a:solidFill>
              <a:srgbClr val="0596A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2688336"/>
            <a:ext cx="6583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0E6D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24128" y="2578608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9B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Player Ingestion Scale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24128" y="2852928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minimum 5 distinct players must be ingested and fully queryable through all analytics routes.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74320" y="3273552"/>
            <a:ext cx="8595360" cy="676656"/>
          </a:xfrm>
          <a:prstGeom prst="rect">
            <a:avLst/>
          </a:prstGeom>
          <a:solidFill>
            <a:srgbClr val="1A2847"/>
          </a:solidFill>
          <a:ln w="6350">
            <a:solidFill>
              <a:srgbClr val="C89B3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74320" y="3273552"/>
            <a:ext cx="658368" cy="676656"/>
          </a:xfrm>
          <a:prstGeom prst="rect">
            <a:avLst/>
          </a:prstGeom>
          <a:solidFill>
            <a:srgbClr val="0596AA"/>
          </a:solidFill>
          <a:ln w="12700">
            <a:solidFill>
              <a:srgbClr val="0596A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3438144"/>
            <a:ext cx="6583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0E6D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G4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024128" y="3328416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9B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Match Data Capacity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024128" y="3602736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must store and serve at least 10,000 participant-match rows without degradation in query performance.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74320" y="4023360"/>
            <a:ext cx="8595360" cy="676656"/>
          </a:xfrm>
          <a:prstGeom prst="rect">
            <a:avLst/>
          </a:prstGeom>
          <a:solidFill>
            <a:srgbClr val="16213E"/>
          </a:solidFill>
          <a:ln w="6350">
            <a:solidFill>
              <a:srgbClr val="C89B3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274320" y="4023360"/>
            <a:ext cx="658368" cy="676656"/>
          </a:xfrm>
          <a:prstGeom prst="rect">
            <a:avLst/>
          </a:prstGeom>
          <a:solidFill>
            <a:srgbClr val="0596AA"/>
          </a:solidFill>
          <a:ln w="12700">
            <a:solidFill>
              <a:srgbClr val="0596A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74320" y="4187952"/>
            <a:ext cx="6583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0E6D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G5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024128" y="4078224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9B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Concurrent-User Stress Test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024128" y="4352544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simultaneous users sustained for 60 seconds — p95 response under 2,000 ms and failure rate below 1%.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596AA"/>
          </a:solidFill>
          <a:ln w="12700">
            <a:solidFill>
              <a:srgbClr val="0596AA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89B3C"/>
          </a:solidFill>
          <a:ln w="12700">
            <a:solidFill>
              <a:srgbClr val="C89B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46304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400" kern="0" dirty="0">
                <a:solidFill>
                  <a:srgbClr val="05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APPROACH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39319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0E6D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System Architecture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932688"/>
            <a:ext cx="8138160" cy="22860"/>
          </a:xfrm>
          <a:prstGeom prst="rect">
            <a:avLst/>
          </a:prstGeom>
          <a:solidFill>
            <a:srgbClr val="C89B3C"/>
          </a:solidFill>
          <a:ln w="12700">
            <a:solidFill>
              <a:srgbClr val="C89B3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024128"/>
            <a:ext cx="1737360" cy="822960"/>
          </a:xfrm>
          <a:prstGeom prst="rect">
            <a:avLst/>
          </a:prstGeom>
          <a:solidFill>
            <a:srgbClr val="16213E"/>
          </a:solidFill>
          <a:ln w="22860">
            <a:solidFill>
              <a:srgbClr val="E945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024128"/>
            <a:ext cx="1737360" cy="9144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1133856"/>
            <a:ext cx="15910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0E6D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Riot Games API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47472" y="1499616"/>
            <a:ext cx="1591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data source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029968" y="1261872"/>
            <a:ext cx="12801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89B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&gt;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249424" y="1024128"/>
            <a:ext cx="1920240" cy="822960"/>
          </a:xfrm>
          <a:prstGeom prst="rect">
            <a:avLst/>
          </a:prstGeom>
          <a:solidFill>
            <a:srgbClr val="16213E"/>
          </a:solidFill>
          <a:ln w="22860">
            <a:solidFill>
              <a:srgbClr val="0596A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249424" y="1024128"/>
            <a:ext cx="1920240" cy="91440"/>
          </a:xfrm>
          <a:prstGeom prst="rect">
            <a:avLst/>
          </a:prstGeom>
          <a:solidFill>
            <a:srgbClr val="0596AA"/>
          </a:solidFill>
          <a:ln w="12700">
            <a:solidFill>
              <a:srgbClr val="0596A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322576" y="1133856"/>
            <a:ext cx="17739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0E6D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FastAPI Backend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322576" y="1499616"/>
            <a:ext cx="1773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3.11 / Uvicorn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187952" y="1261872"/>
            <a:ext cx="12801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89B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&gt;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407408" y="1024128"/>
            <a:ext cx="1920240" cy="822960"/>
          </a:xfrm>
          <a:prstGeom prst="rect">
            <a:avLst/>
          </a:prstGeom>
          <a:solidFill>
            <a:srgbClr val="16213E"/>
          </a:solidFill>
          <a:ln w="22860">
            <a:solidFill>
              <a:srgbClr val="C89B3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407408" y="1024128"/>
            <a:ext cx="1920240" cy="91440"/>
          </a:xfrm>
          <a:prstGeom prst="rect">
            <a:avLst/>
          </a:prstGeom>
          <a:solidFill>
            <a:srgbClr val="C89B3C"/>
          </a:solidFill>
          <a:ln w="12700">
            <a:solidFill>
              <a:srgbClr val="C89B3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480560" y="1133856"/>
            <a:ext cx="17739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0E6D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PostgreSQL / Supabase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480560" y="1499616"/>
            <a:ext cx="1773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relational DB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345936" y="1261872"/>
            <a:ext cx="12801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89B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&gt;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565392" y="1024128"/>
            <a:ext cx="1920240" cy="822960"/>
          </a:xfrm>
          <a:prstGeom prst="rect">
            <a:avLst/>
          </a:prstGeom>
          <a:solidFill>
            <a:srgbClr val="16213E"/>
          </a:solidFill>
          <a:ln w="22860">
            <a:solidFill>
              <a:srgbClr val="9D4E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565392" y="1024128"/>
            <a:ext cx="1920240" cy="91440"/>
          </a:xfrm>
          <a:prstGeom prst="rect">
            <a:avLst/>
          </a:prstGeom>
          <a:solidFill>
            <a:srgbClr val="9D4EDD"/>
          </a:solidFill>
          <a:ln w="12700">
            <a:solidFill>
              <a:srgbClr val="9D4ED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638544" y="1133856"/>
            <a:ext cx="17739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0E6D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ML Pipeline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638544" y="1499616"/>
            <a:ext cx="1773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 + XGBoost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74320" y="2011680"/>
            <a:ext cx="8577072" cy="804672"/>
          </a:xfrm>
          <a:prstGeom prst="rect">
            <a:avLst/>
          </a:prstGeom>
          <a:solidFill>
            <a:srgbClr val="16213E"/>
          </a:solidFill>
          <a:ln w="2286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74320" y="2011680"/>
            <a:ext cx="8577072" cy="914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2121408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0E6D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Next.js 14 Frontend  (React / TypeScript)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457200" y="243230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Pages: Dashboard  ·  Player Analysis  ·  Champion Intel  ·  Matchup  ·  Team Insights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315968" y="1828800"/>
            <a:ext cx="31089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89B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274320" y="2980944"/>
            <a:ext cx="8577072" cy="1773936"/>
          </a:xfrm>
          <a:prstGeom prst="rect">
            <a:avLst/>
          </a:prstGeom>
          <a:solidFill>
            <a:srgbClr val="16213E"/>
          </a:solidFill>
          <a:ln w="7620">
            <a:solidFill>
              <a:srgbClr val="C89B3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457200" y="305409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89B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Technology Stack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457200" y="3383280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API: FastAPI (Python 3.11)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57200" y="3767328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Database: PostgreSQL via Supabase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57200" y="4151376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ORM: SQLAlchemy 2.0 + Prisma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3291840" y="3383280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ML: scikit-learn + XGBoost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3291840" y="3767328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HTTP: httpx async Riot client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3291840" y="4151376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Cache: TTL in-process (custom)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126480" y="3383280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Frontend: Next.js 14 App Router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126480" y="3767328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Deploy: Railway + Vercel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126480" y="4151376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CI/CD: GitHub Actions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596AA"/>
          </a:solidFill>
          <a:ln w="12700">
            <a:solidFill>
              <a:srgbClr val="0596AA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89B3C"/>
          </a:solidFill>
          <a:ln w="12700">
            <a:solidFill>
              <a:srgbClr val="C89B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46304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400" kern="0" dirty="0">
                <a:solidFill>
                  <a:srgbClr val="05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APPROACH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39319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0E6D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Layer — Schema &amp; Ingestion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932688"/>
            <a:ext cx="8138160" cy="22860"/>
          </a:xfrm>
          <a:prstGeom prst="rect">
            <a:avLst/>
          </a:prstGeom>
          <a:solidFill>
            <a:srgbClr val="C89B3C"/>
          </a:solidFill>
          <a:ln w="12700">
            <a:solidFill>
              <a:srgbClr val="C89B3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024128"/>
            <a:ext cx="4069080" cy="3730752"/>
          </a:xfrm>
          <a:prstGeom prst="rect">
            <a:avLst/>
          </a:prstGeom>
          <a:solidFill>
            <a:srgbClr val="16213E"/>
          </a:solidFill>
          <a:ln w="7620">
            <a:solidFill>
              <a:srgbClr val="C89B3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09728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89B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 Relational Tables  (Prisma-managed)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8912" y="1463040"/>
            <a:ext cx="1389888" cy="274320"/>
          </a:xfrm>
          <a:prstGeom prst="rect">
            <a:avLst/>
          </a:prstGeom>
          <a:solidFill>
            <a:srgbClr val="0596AA"/>
          </a:solidFill>
          <a:ln w="12700">
            <a:solidFill>
              <a:srgbClr val="0596A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1463040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80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920240" y="148132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Riot account identity &amp; region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38912" y="1828800"/>
            <a:ext cx="1389888" cy="274320"/>
          </a:xfrm>
          <a:prstGeom prst="rect">
            <a:avLst/>
          </a:prstGeom>
          <a:solidFill>
            <a:srgbClr val="0596AA"/>
          </a:solidFill>
          <a:ln w="12700">
            <a:solidFill>
              <a:srgbClr val="0596A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8912" y="1828800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80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920240" y="184708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metadata, duration, patch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38912" y="2194560"/>
            <a:ext cx="1389888" cy="274320"/>
          </a:xfrm>
          <a:prstGeom prst="rect">
            <a:avLst/>
          </a:prstGeom>
          <a:solidFill>
            <a:srgbClr val="0596AA"/>
          </a:solidFill>
          <a:ln w="12700">
            <a:solidFill>
              <a:srgbClr val="0596A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8912" y="2194560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80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participant_stats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920240" y="221284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Per-player raw stats per match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38912" y="2560320"/>
            <a:ext cx="1389888" cy="274320"/>
          </a:xfrm>
          <a:prstGeom prst="rect">
            <a:avLst/>
          </a:prstGeom>
          <a:solidFill>
            <a:srgbClr val="0596AA"/>
          </a:solidFill>
          <a:ln w="12700">
            <a:solidFill>
              <a:srgbClr val="0596A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8912" y="2560320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80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derived_metrics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920240" y="257860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computed normalized KPIs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38912" y="2926080"/>
            <a:ext cx="1389888" cy="274320"/>
          </a:xfrm>
          <a:prstGeom prst="rect">
            <a:avLst/>
          </a:prstGeom>
          <a:solidFill>
            <a:srgbClr val="0596AA"/>
          </a:solidFill>
          <a:ln w="12700">
            <a:solidFill>
              <a:srgbClr val="0596A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38912" y="2926080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80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team_objectives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920240" y="294436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Towers, dragons, barons per team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38912" y="3291840"/>
            <a:ext cx="1389888" cy="274320"/>
          </a:xfrm>
          <a:prstGeom prst="rect">
            <a:avLst/>
          </a:prstGeom>
          <a:solidFill>
            <a:srgbClr val="0596AA"/>
          </a:solidFill>
          <a:ln w="12700">
            <a:solidFill>
              <a:srgbClr val="0596A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38912" y="3291840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80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team_bans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920240" y="331012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bans with pick_turn ordering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38912" y="3657600"/>
            <a:ext cx="1389888" cy="274320"/>
          </a:xfrm>
          <a:prstGeom prst="rect">
            <a:avLst/>
          </a:prstGeom>
          <a:solidFill>
            <a:srgbClr val="0596AA"/>
          </a:solidFill>
          <a:ln w="12700">
            <a:solidFill>
              <a:srgbClr val="0596A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38912" y="3657600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80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match_timelines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920240" y="367588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Frame-by-frame game state (JSON)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38912" y="4023360"/>
            <a:ext cx="1389888" cy="274320"/>
          </a:xfrm>
          <a:prstGeom prst="rect">
            <a:avLst/>
          </a:prstGeom>
          <a:solidFill>
            <a:srgbClr val="0596AA"/>
          </a:solidFill>
          <a:ln w="12700">
            <a:solidFill>
              <a:srgbClr val="0596A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38912" y="4023360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80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draft_actions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920240" y="404164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Ordered pick/ban sequences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38912" y="4389120"/>
            <a:ext cx="1389888" cy="274320"/>
          </a:xfrm>
          <a:prstGeom prst="rect">
            <a:avLst/>
          </a:prstGeom>
          <a:solidFill>
            <a:srgbClr val="0596AA"/>
          </a:solidFill>
          <a:ln w="12700">
            <a:solidFill>
              <a:srgbClr val="0596A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38912" y="4389120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80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participant_perks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920240" y="440740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Rune configs per participant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4572000" y="1024128"/>
            <a:ext cx="4279392" cy="3730752"/>
          </a:xfrm>
          <a:prstGeom prst="rect">
            <a:avLst/>
          </a:prstGeom>
          <a:solidFill>
            <a:srgbClr val="1A2847"/>
          </a:solidFill>
          <a:ln w="7620">
            <a:solidFill>
              <a:srgbClr val="C89B3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4754880" y="109728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89B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Ingestion Pipeline</a:t>
            </a:r>
            <a:endParaRPr lang="en-US" sz="1250" dirty="0"/>
          </a:p>
        </p:txBody>
      </p:sp>
      <p:sp>
        <p:nvSpPr>
          <p:cNvPr id="37" name="Shape 35"/>
          <p:cNvSpPr/>
          <p:nvPr/>
        </p:nvSpPr>
        <p:spPr>
          <a:xfrm>
            <a:off x="4663440" y="1481328"/>
            <a:ext cx="329184" cy="329184"/>
          </a:xfrm>
          <a:prstGeom prst="rect">
            <a:avLst/>
          </a:prstGeom>
          <a:solidFill>
            <a:srgbClr val="0596AA"/>
          </a:solidFill>
          <a:ln w="12700">
            <a:solidFill>
              <a:srgbClr val="0596A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663440" y="14813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80D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5074920" y="1499616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0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/ingest/player  —  resolve PUUID via Riot Account API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4663440" y="1993392"/>
            <a:ext cx="329184" cy="329184"/>
          </a:xfrm>
          <a:prstGeom prst="rect">
            <a:avLst/>
          </a:prstGeom>
          <a:solidFill>
            <a:srgbClr val="0596AA"/>
          </a:solidFill>
          <a:ln w="12700">
            <a:solidFill>
              <a:srgbClr val="0596A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663440" y="19933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80D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5074920" y="201168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0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match IDs and full match details  (async httpx)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4663440" y="2505456"/>
            <a:ext cx="329184" cy="329184"/>
          </a:xfrm>
          <a:prstGeom prst="rect">
            <a:avLst/>
          </a:prstGeom>
          <a:solidFill>
            <a:srgbClr val="0596AA"/>
          </a:solidFill>
          <a:ln w="12700">
            <a:solidFill>
              <a:srgbClr val="0596A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663440" y="250545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80D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5074920" y="2523744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0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Atomically write: matches, participant_stats, objectives &amp; bans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4663440" y="3017520"/>
            <a:ext cx="329184" cy="329184"/>
          </a:xfrm>
          <a:prstGeom prst="rect">
            <a:avLst/>
          </a:prstGeom>
          <a:solidFill>
            <a:srgbClr val="0596AA"/>
          </a:solidFill>
          <a:ln w="12700">
            <a:solidFill>
              <a:srgbClr val="0596A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663440" y="30175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80D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5074920" y="3035808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0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Backfill: derived_metrics, timeline, draft_actions, perks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4663440" y="3529584"/>
            <a:ext cx="329184" cy="329184"/>
          </a:xfrm>
          <a:prstGeom prst="rect">
            <a:avLst/>
          </a:prstGeom>
          <a:solidFill>
            <a:srgbClr val="0596AA"/>
          </a:solidFill>
          <a:ln w="12700">
            <a:solidFill>
              <a:srgbClr val="0596A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663440" y="352958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80D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5074920" y="3547872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0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ML models via POST /ai/train/* endpoints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4663440" y="4041648"/>
            <a:ext cx="329184" cy="329184"/>
          </a:xfrm>
          <a:prstGeom prst="rect">
            <a:avLst/>
          </a:prstGeom>
          <a:solidFill>
            <a:srgbClr val="0596AA"/>
          </a:solidFill>
          <a:ln w="12700">
            <a:solidFill>
              <a:srgbClr val="0596A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663440" y="40416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80D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1300" dirty="0"/>
          </a:p>
        </p:txBody>
      </p:sp>
      <p:sp>
        <p:nvSpPr>
          <p:cNvPr id="54" name="Text 52"/>
          <p:cNvSpPr/>
          <p:nvPr/>
        </p:nvSpPr>
        <p:spPr>
          <a:xfrm>
            <a:off x="5074920" y="4059936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0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analytics reads hit PostgreSQL only — Riot API never queried live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596AA"/>
          </a:solidFill>
          <a:ln w="12700">
            <a:solidFill>
              <a:srgbClr val="0596AA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89B3C"/>
          </a:solidFill>
          <a:ln w="12700">
            <a:solidFill>
              <a:srgbClr val="C89B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46304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400" kern="0" dirty="0">
                <a:solidFill>
                  <a:srgbClr val="05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APPROACH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39319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0E6D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Machine Learning Pipeline — 7 Models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932688"/>
            <a:ext cx="8138160" cy="22860"/>
          </a:xfrm>
          <a:prstGeom prst="rect">
            <a:avLst/>
          </a:prstGeom>
          <a:solidFill>
            <a:srgbClr val="C89B3C"/>
          </a:solidFill>
          <a:ln w="12700">
            <a:solidFill>
              <a:srgbClr val="C89B3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024128"/>
            <a:ext cx="4251960" cy="749808"/>
          </a:xfrm>
          <a:prstGeom prst="rect">
            <a:avLst/>
          </a:prstGeom>
          <a:solidFill>
            <a:srgbClr val="16213E"/>
          </a:solidFill>
          <a:ln w="7620">
            <a:solidFill>
              <a:srgbClr val="C89B3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024128"/>
            <a:ext cx="54864" cy="749808"/>
          </a:xfrm>
          <a:prstGeom prst="rect">
            <a:avLst/>
          </a:prstGeom>
          <a:solidFill>
            <a:srgbClr val="0596AA"/>
          </a:solidFill>
          <a:ln w="12700">
            <a:solidFill>
              <a:srgbClr val="0596A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0624" y="1078992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E6D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Win Predictor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20624" y="1353312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5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 |  LR vs XGBoost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20624" y="1554480"/>
            <a:ext cx="4069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Per-player pre-match win probability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617720" y="1024128"/>
            <a:ext cx="4251960" cy="749808"/>
          </a:xfrm>
          <a:prstGeom prst="rect">
            <a:avLst/>
          </a:prstGeom>
          <a:solidFill>
            <a:srgbClr val="16213E"/>
          </a:solidFill>
          <a:ln w="7620">
            <a:solidFill>
              <a:srgbClr val="C89B3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17720" y="1024128"/>
            <a:ext cx="54864" cy="749808"/>
          </a:xfrm>
          <a:prstGeom prst="rect">
            <a:avLst/>
          </a:prstGeom>
          <a:solidFill>
            <a:srgbClr val="0596AA"/>
          </a:solidFill>
          <a:ln w="12700">
            <a:solidFill>
              <a:srgbClr val="0596A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64024" y="1078992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E6D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Matchup Predictor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764024" y="1353312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5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 |  LR vs XGBoost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764024" y="1554480"/>
            <a:ext cx="4069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Team-level match win probability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74320" y="1865376"/>
            <a:ext cx="4251960" cy="749808"/>
          </a:xfrm>
          <a:prstGeom prst="rect">
            <a:avLst/>
          </a:prstGeom>
          <a:solidFill>
            <a:srgbClr val="16213E"/>
          </a:solidFill>
          <a:ln w="7620">
            <a:solidFill>
              <a:srgbClr val="C89B3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1865376"/>
            <a:ext cx="54864" cy="749808"/>
          </a:xfrm>
          <a:prstGeom prst="rect">
            <a:avLst/>
          </a:prstGeom>
          <a:solidFill>
            <a:srgbClr val="C89B3C"/>
          </a:solidFill>
          <a:ln w="12700">
            <a:solidFill>
              <a:srgbClr val="C89B3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20624" y="1920240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E6D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KDA Regressor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20624" y="2194560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 |  Ridge vs XGBoost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20624" y="2395728"/>
            <a:ext cx="4069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KDA for next match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617720" y="1865376"/>
            <a:ext cx="4251960" cy="749808"/>
          </a:xfrm>
          <a:prstGeom prst="rect">
            <a:avLst/>
          </a:prstGeom>
          <a:solidFill>
            <a:srgbClr val="16213E"/>
          </a:solidFill>
          <a:ln w="7620">
            <a:solidFill>
              <a:srgbClr val="C89B3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617720" y="1865376"/>
            <a:ext cx="54864" cy="749808"/>
          </a:xfrm>
          <a:prstGeom prst="rect">
            <a:avLst/>
          </a:prstGeom>
          <a:solidFill>
            <a:srgbClr val="C89B3C"/>
          </a:solidFill>
          <a:ln w="12700">
            <a:solidFill>
              <a:srgbClr val="C89B3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64024" y="1920240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E6D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CS/min Regressor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764024" y="2194560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 |  Ridge vs XGBoost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764024" y="2395728"/>
            <a:ext cx="4069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CS/min prediction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274320" y="2706624"/>
            <a:ext cx="4251960" cy="749808"/>
          </a:xfrm>
          <a:prstGeom prst="rect">
            <a:avLst/>
          </a:prstGeom>
          <a:solidFill>
            <a:srgbClr val="16213E"/>
          </a:solidFill>
          <a:ln w="7620">
            <a:solidFill>
              <a:srgbClr val="C89B3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274320" y="2706624"/>
            <a:ext cx="54864" cy="749808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20624" y="2761488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E6D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Early-Game Predictor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20624" y="3035808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 |  Logistic Regression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20624" y="3236976"/>
            <a:ext cx="4069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 prob from minute-10/15 timeline state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617720" y="2706624"/>
            <a:ext cx="4251960" cy="749808"/>
          </a:xfrm>
          <a:prstGeom prst="rect">
            <a:avLst/>
          </a:prstGeom>
          <a:solidFill>
            <a:srgbClr val="16213E"/>
          </a:solidFill>
          <a:ln w="7620">
            <a:solidFill>
              <a:srgbClr val="C89B3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617720" y="2706624"/>
            <a:ext cx="54864" cy="749808"/>
          </a:xfrm>
          <a:prstGeom prst="rect">
            <a:avLst/>
          </a:prstGeom>
          <a:solidFill>
            <a:srgbClr val="9D4EDD"/>
          </a:solidFill>
          <a:ln w="12700">
            <a:solidFill>
              <a:srgbClr val="9D4ED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64024" y="2761488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E6D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Playstyle Clustering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4764024" y="3035808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D4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  |  KMeans (k=4)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764024" y="3236976"/>
            <a:ext cx="4069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Carry / Skirmisher / Support / Farm archetypes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274320" y="3547872"/>
            <a:ext cx="8577072" cy="749808"/>
          </a:xfrm>
          <a:prstGeom prst="rect">
            <a:avLst/>
          </a:prstGeom>
          <a:solidFill>
            <a:srgbClr val="16213E"/>
          </a:solidFill>
          <a:ln w="7620">
            <a:solidFill>
              <a:srgbClr val="C89B3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274320" y="3547872"/>
            <a:ext cx="54864" cy="749808"/>
          </a:xfrm>
          <a:prstGeom prst="rect">
            <a:avLst/>
          </a:prstGeom>
          <a:solidFill>
            <a:srgbClr val="9D4EDD"/>
          </a:solidFill>
          <a:ln w="12700">
            <a:solidFill>
              <a:srgbClr val="9D4ED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20624" y="3602736"/>
            <a:ext cx="8394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E6D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Champion Archetypes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420624" y="3877056"/>
            <a:ext cx="83941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D4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  |  KMeans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20624" y="4078224"/>
            <a:ext cx="8394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Champion grouping for recommendations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274320" y="4425696"/>
            <a:ext cx="8577072" cy="310896"/>
          </a:xfrm>
          <a:prstGeom prst="rect">
            <a:avLst/>
          </a:prstGeom>
          <a:solidFill>
            <a:srgbClr val="0B2210"/>
          </a:solidFill>
          <a:ln w="7620">
            <a:solidFill>
              <a:srgbClr val="22C55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57200" y="4462272"/>
            <a:ext cx="14264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Principles:  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1883664" y="4462272"/>
            <a:ext cx="68762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80/20 split  |  LR vs XGBoost candidate comparison  |  Min. data gates  |  Persisted training medians for inference parity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596AA"/>
          </a:solidFill>
          <a:ln w="12700">
            <a:solidFill>
              <a:srgbClr val="0596AA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89B3C"/>
          </a:solidFill>
          <a:ln w="12700">
            <a:solidFill>
              <a:srgbClr val="C89B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46304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400" kern="0" dirty="0">
                <a:solidFill>
                  <a:srgbClr val="05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APPROACH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39319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0E6D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Performance Engineering &amp; Deployment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932688"/>
            <a:ext cx="8138160" cy="22860"/>
          </a:xfrm>
          <a:prstGeom prst="rect">
            <a:avLst/>
          </a:prstGeom>
          <a:solidFill>
            <a:srgbClr val="C89B3C"/>
          </a:solidFill>
          <a:ln w="12700">
            <a:solidFill>
              <a:srgbClr val="C89B3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024128"/>
            <a:ext cx="4251960" cy="3730752"/>
          </a:xfrm>
          <a:prstGeom prst="rect">
            <a:avLst/>
          </a:prstGeom>
          <a:solidFill>
            <a:srgbClr val="16213E"/>
          </a:solidFill>
          <a:ln w="7620">
            <a:solidFill>
              <a:srgbClr val="C89B3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097280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9B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Performance Optimizations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8912" y="1517904"/>
            <a:ext cx="54864" cy="603504"/>
          </a:xfrm>
          <a:prstGeom prst="rect">
            <a:avLst/>
          </a:prstGeom>
          <a:solidFill>
            <a:srgbClr val="0596AA"/>
          </a:solidFill>
          <a:ln w="12700">
            <a:solidFill>
              <a:srgbClr val="0596A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48132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E6D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TTL In-Process Cache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94360" y="175564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Stampede-protected cache (300s TTL). Under 50 concurrent users, only one thread queries the DB — all others block and share the result.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38912" y="2313432"/>
            <a:ext cx="54864" cy="603504"/>
          </a:xfrm>
          <a:prstGeom prst="rect">
            <a:avLst/>
          </a:prstGeom>
          <a:solidFill>
            <a:srgbClr val="0596AA"/>
          </a:solidFill>
          <a:ln w="12700">
            <a:solidFill>
              <a:srgbClr val="0596A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227685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E6D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Composite DB Indexes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94360" y="2551176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Indexes on (match_id, puuid) on hottest query paths. Statement timeout guards prevent runaway queries.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38912" y="3108960"/>
            <a:ext cx="54864" cy="603504"/>
          </a:xfrm>
          <a:prstGeom prst="rect">
            <a:avLst/>
          </a:prstGeom>
          <a:solidFill>
            <a:srgbClr val="0596AA"/>
          </a:solidFill>
          <a:ln w="12700">
            <a:solidFill>
              <a:srgbClr val="0596A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307238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E6D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DB-First Architecture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94360" y="3346704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reads never touch the Riot API. All data served from PostgreSQL only — protects rate limits and cuts latency.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38912" y="3904488"/>
            <a:ext cx="54864" cy="603504"/>
          </a:xfrm>
          <a:prstGeom prst="rect">
            <a:avLst/>
          </a:prstGeom>
          <a:solidFill>
            <a:srgbClr val="0596AA"/>
          </a:solidFill>
          <a:ln w="12700">
            <a:solidFill>
              <a:srgbClr val="0596A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386791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E6D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Async Ingestion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94360" y="4142232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httpx async client with exponential backoff (6 retries). slowapi rate-limiting middleware guards Riot-facing endpoints.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709160" y="1024128"/>
            <a:ext cx="4142232" cy="1719072"/>
          </a:xfrm>
          <a:prstGeom prst="rect">
            <a:avLst/>
          </a:prstGeom>
          <a:solidFill>
            <a:srgbClr val="1A2847"/>
          </a:solidFill>
          <a:ln w="7620">
            <a:solidFill>
              <a:srgbClr val="C89B3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892040" y="109728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89B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CI/CD Pipeline  —  GitHub Actions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4892040" y="1463040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pytest — unit + integration tests with coverage enforcement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892040" y="1737360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flake8 — linting enforced on every push and pull request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892040" y="2011680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Auto-deploys to Railway (backend) + Vercel (frontend)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892040" y="2286000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+ 89+ commits across 6 phases  (March – May 2026)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709160" y="2907792"/>
            <a:ext cx="4142232" cy="1847088"/>
          </a:xfrm>
          <a:prstGeom prst="rect">
            <a:avLst/>
          </a:prstGeom>
          <a:solidFill>
            <a:srgbClr val="1A2847"/>
          </a:solidFill>
          <a:ln w="7620">
            <a:solidFill>
              <a:srgbClr val="C89B3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892040" y="298094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89B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Production Deployment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4800600" y="3346704"/>
            <a:ext cx="1005840" cy="32918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00600" y="3346704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80D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Vercel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870448" y="3364992"/>
            <a:ext cx="28712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Frontend (CDN + SSR)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800600" y="3749040"/>
            <a:ext cx="1005840" cy="329184"/>
          </a:xfrm>
          <a:prstGeom prst="rect">
            <a:avLst/>
          </a:prstGeom>
          <a:solidFill>
            <a:srgbClr val="0596AA"/>
          </a:solidFill>
          <a:ln w="12700">
            <a:solidFill>
              <a:srgbClr val="0596A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00600" y="3749040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80D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Railway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870448" y="3767328"/>
            <a:ext cx="28712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Backend (Uvicorn)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800600" y="4151376"/>
            <a:ext cx="1005840" cy="329184"/>
          </a:xfrm>
          <a:prstGeom prst="rect">
            <a:avLst/>
          </a:prstGeom>
          <a:solidFill>
            <a:srgbClr val="C89B3C"/>
          </a:solidFill>
          <a:ln w="12700">
            <a:solidFill>
              <a:srgbClr val="C89B3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00600" y="4151376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80D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Supabase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870448" y="4169664"/>
            <a:ext cx="28712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PostgreSQL + Pooling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4800600" y="4645152"/>
            <a:ext cx="4050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infrastructure cost: $0 / month  (free-tier stack)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596AA"/>
          </a:solidFill>
          <a:ln w="12700">
            <a:solidFill>
              <a:srgbClr val="0596AA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89B3C"/>
          </a:solidFill>
          <a:ln w="12700">
            <a:solidFill>
              <a:srgbClr val="C89B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46304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400" kern="0" dirty="0">
                <a:solidFill>
                  <a:srgbClr val="05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39319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0E6D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SMART Goals — All Targets Exceeded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932688"/>
            <a:ext cx="8138160" cy="22860"/>
          </a:xfrm>
          <a:prstGeom prst="rect">
            <a:avLst/>
          </a:prstGeom>
          <a:solidFill>
            <a:srgbClr val="C89B3C"/>
          </a:solidFill>
          <a:ln w="12700">
            <a:solidFill>
              <a:srgbClr val="C89B3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024128"/>
            <a:ext cx="2011680" cy="1115568"/>
          </a:xfrm>
          <a:prstGeom prst="rect">
            <a:avLst/>
          </a:prstGeom>
          <a:solidFill>
            <a:srgbClr val="16213E"/>
          </a:solidFill>
          <a:ln w="7620">
            <a:solidFill>
              <a:srgbClr val="C89B3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74320" y="109728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B8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100%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365760" y="17556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Derived metric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(target 95%)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423160" y="1024128"/>
            <a:ext cx="2011680" cy="1115568"/>
          </a:xfrm>
          <a:prstGeom prst="rect">
            <a:avLst/>
          </a:prstGeom>
          <a:solidFill>
            <a:srgbClr val="16213E"/>
          </a:solidFill>
          <a:ln w="7620">
            <a:solidFill>
              <a:srgbClr val="C89B3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423160" y="109728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AB8C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922ms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2514600" y="17556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API response time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(target under 2,000ms)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0" y="1024128"/>
            <a:ext cx="2011680" cy="1115568"/>
          </a:xfrm>
          <a:prstGeom prst="rect">
            <a:avLst/>
          </a:prstGeom>
          <a:solidFill>
            <a:srgbClr val="16213E"/>
          </a:solidFill>
          <a:ln w="7620">
            <a:solidFill>
              <a:srgbClr val="C89B3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572000" y="109728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B8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14,205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4663440" y="17556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Players ingested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(target 5+)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720840" y="1024128"/>
            <a:ext cx="2011680" cy="1115568"/>
          </a:xfrm>
          <a:prstGeom prst="rect">
            <a:avLst/>
          </a:prstGeom>
          <a:solidFill>
            <a:srgbClr val="16213E"/>
          </a:solidFill>
          <a:ln w="7620">
            <a:solidFill>
              <a:srgbClr val="C89B3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720840" y="109728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AB8C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36,100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6812280" y="17556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Participant-match rows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(target 10,000+)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74320" y="2286000"/>
            <a:ext cx="8577072" cy="2468880"/>
          </a:xfrm>
          <a:prstGeom prst="rect">
            <a:avLst/>
          </a:prstGeom>
          <a:solidFill>
            <a:srgbClr val="16213E"/>
          </a:solidFill>
          <a:ln w="7620">
            <a:solidFill>
              <a:srgbClr val="C89B3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57200" y="23591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89B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Verification Summary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292608" y="2651760"/>
            <a:ext cx="8540496" cy="320040"/>
          </a:xfrm>
          <a:prstGeom prst="rect">
            <a:avLst/>
          </a:prstGeom>
          <a:solidFill>
            <a:srgbClr val="0596AA"/>
          </a:solidFill>
          <a:ln w="12700">
            <a:solidFill>
              <a:srgbClr val="0596A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7472" y="2688336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80D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SMART Goal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273552" y="268833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80D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Target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809744" y="268833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80D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Measured Result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589520" y="268833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80D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Status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47472" y="3026664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0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G1 — Derived Metric Coverage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273552" y="302666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0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 or higher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809744" y="302666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0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100.0%  (36,100 rows)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589520" y="302666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92608" y="3328416"/>
            <a:ext cx="8540496" cy="320040"/>
          </a:xfrm>
          <a:prstGeom prst="rect">
            <a:avLst/>
          </a:prstGeom>
          <a:solidFill>
            <a:srgbClr val="0F1A2E"/>
          </a:solidFill>
          <a:ln w="12700">
            <a:solidFill>
              <a:srgbClr val="0F1A2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47472" y="336499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0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G2 — API Response Time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273552" y="336499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0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2,000 ms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809744" y="33649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0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922 ms max (all endpoints)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589520" y="336499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347472" y="370332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0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G3 — Players Ingested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3273552" y="37033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0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or more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809744" y="3703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0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14,205 players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7589520" y="37033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292608" y="4005072"/>
            <a:ext cx="8540496" cy="320040"/>
          </a:xfrm>
          <a:prstGeom prst="rect">
            <a:avLst/>
          </a:prstGeom>
          <a:solidFill>
            <a:srgbClr val="0F1A2E"/>
          </a:solidFill>
          <a:ln w="12700">
            <a:solidFill>
              <a:srgbClr val="0F1A2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47472" y="404164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0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G4 — Match Data Capacity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3273552" y="404164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0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10,000+ rows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4809744" y="40416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0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36,100 participant rows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7589520" y="404164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347472" y="4379976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0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G5 — 50-User Stress Test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3273552" y="437997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0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p95 under 2s, failure below 1%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4809744" y="437997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0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p95 within 2s, 0% failures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7589520" y="437997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596AA"/>
          </a:solidFill>
          <a:ln w="12700">
            <a:solidFill>
              <a:srgbClr val="0596AA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89B3C"/>
          </a:solidFill>
          <a:ln w="12700">
            <a:solidFill>
              <a:srgbClr val="C89B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46304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400" kern="0" dirty="0">
                <a:solidFill>
                  <a:srgbClr val="05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39319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0E6D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Stress Test — 50 Concurrent Users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932688"/>
            <a:ext cx="8138160" cy="22860"/>
          </a:xfrm>
          <a:prstGeom prst="rect">
            <a:avLst/>
          </a:prstGeom>
          <a:solidFill>
            <a:srgbClr val="C89B3C"/>
          </a:solidFill>
          <a:ln w="12700">
            <a:solidFill>
              <a:srgbClr val="C89B3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024128"/>
            <a:ext cx="1993392" cy="1115568"/>
          </a:xfrm>
          <a:prstGeom prst="rect">
            <a:avLst/>
          </a:prstGeom>
          <a:solidFill>
            <a:srgbClr val="16213E"/>
          </a:solidFill>
          <a:ln w="7620">
            <a:solidFill>
              <a:srgbClr val="C89B3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74320" y="1097280"/>
            <a:ext cx="19933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B8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50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365760" y="1755648"/>
            <a:ext cx="18105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Concurrent users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sustained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450592" y="1024128"/>
            <a:ext cx="1993392" cy="1115568"/>
          </a:xfrm>
          <a:prstGeom prst="rect">
            <a:avLst/>
          </a:prstGeom>
          <a:solidFill>
            <a:srgbClr val="16213E"/>
          </a:solidFill>
          <a:ln w="7620">
            <a:solidFill>
              <a:srgbClr val="C89B3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450592" y="1097280"/>
            <a:ext cx="19933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2C5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0%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2542032" y="1755648"/>
            <a:ext cx="18105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rate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(target below 1%)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626864" y="1024128"/>
            <a:ext cx="1993392" cy="1115568"/>
          </a:xfrm>
          <a:prstGeom prst="rect">
            <a:avLst/>
          </a:prstGeom>
          <a:solidFill>
            <a:srgbClr val="16213E"/>
          </a:solidFill>
          <a:ln w="7620">
            <a:solidFill>
              <a:srgbClr val="C89B3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626864" y="1097280"/>
            <a:ext cx="19933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AB8C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10+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4718304" y="1755648"/>
            <a:ext cx="18105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Requests/sec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throughput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803136" y="1024128"/>
            <a:ext cx="1993392" cy="1115568"/>
          </a:xfrm>
          <a:prstGeom prst="rect">
            <a:avLst/>
          </a:prstGeom>
          <a:solidFill>
            <a:srgbClr val="16213E"/>
          </a:solidFill>
          <a:ln w="7620">
            <a:solidFill>
              <a:srgbClr val="C89B3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803136" y="1097280"/>
            <a:ext cx="19933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B8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60s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6894576" y="1755648"/>
            <a:ext cx="18105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 of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sustained load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74320" y="2304288"/>
            <a:ext cx="5257800" cy="2450592"/>
          </a:xfrm>
          <a:prstGeom prst="rect">
            <a:avLst/>
          </a:prstGeom>
          <a:solidFill>
            <a:srgbClr val="16213E"/>
          </a:solidFill>
          <a:ln w="7620">
            <a:solidFill>
              <a:srgbClr val="C89B3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57200" y="2377440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89B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Endpoint Response Times Under Load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2779776" y="2706624"/>
            <a:ext cx="22860" cy="1901952"/>
          </a:xfrm>
          <a:prstGeom prst="rect">
            <a:avLst/>
          </a:prstGeom>
          <a:solidFill>
            <a:srgbClr val="7A8FA6"/>
          </a:solidFill>
          <a:ln w="12700">
            <a:solidFill>
              <a:srgbClr val="7A8FA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38912" y="2743200"/>
            <a:ext cx="2267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/health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798064" y="2798064"/>
            <a:ext cx="73152" cy="16459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944368" y="2743200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12ms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38912" y="3118104"/>
            <a:ext cx="2267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/players/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798064" y="3172968"/>
            <a:ext cx="799643" cy="16459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70859" y="3118104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310ms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38912" y="3493008"/>
            <a:ext cx="2267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/metrics/player/{id}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798064" y="3547872"/>
            <a:ext cx="1647749" cy="164592"/>
          </a:xfrm>
          <a:prstGeom prst="rect">
            <a:avLst/>
          </a:prstGeom>
          <a:solidFill>
            <a:srgbClr val="C89B3C"/>
          </a:solidFill>
          <a:ln w="12700">
            <a:solidFill>
              <a:srgbClr val="C89B3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18965" y="3493008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640ms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38912" y="3867912"/>
            <a:ext cx="2267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/analytics/bans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798064" y="3922776"/>
            <a:ext cx="1744675" cy="164592"/>
          </a:xfrm>
          <a:prstGeom prst="rect">
            <a:avLst/>
          </a:prstGeom>
          <a:solidFill>
            <a:srgbClr val="C89B3C"/>
          </a:solidFill>
          <a:ln w="12700">
            <a:solidFill>
              <a:srgbClr val="C89B3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615891" y="3867912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680ms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38912" y="4242816"/>
            <a:ext cx="2267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/teams/matchup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2798064" y="4297680"/>
            <a:ext cx="2277770" cy="164592"/>
          </a:xfrm>
          <a:prstGeom prst="rect">
            <a:avLst/>
          </a:prstGeom>
          <a:solidFill>
            <a:srgbClr val="0596AA"/>
          </a:solidFill>
          <a:ln w="12700">
            <a:solidFill>
              <a:srgbClr val="0596A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148986" y="4242816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5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890ms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38912" y="4553712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results: under 2,000ms target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5715000" y="2304288"/>
            <a:ext cx="3136392" cy="2450592"/>
          </a:xfrm>
          <a:prstGeom prst="rect">
            <a:avLst/>
          </a:prstGeom>
          <a:solidFill>
            <a:srgbClr val="1A2847"/>
          </a:solidFill>
          <a:ln w="7620">
            <a:solidFill>
              <a:srgbClr val="C89B3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5897880" y="2377440"/>
            <a:ext cx="2770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89B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Made It Possible</a:t>
            </a:r>
            <a:endParaRPr lang="en-US" sz="1250" dirty="0"/>
          </a:p>
        </p:txBody>
      </p:sp>
      <p:sp>
        <p:nvSpPr>
          <p:cNvPr id="39" name="Shape 37"/>
          <p:cNvSpPr/>
          <p:nvPr/>
        </p:nvSpPr>
        <p:spPr>
          <a:xfrm>
            <a:off x="5806440" y="2743200"/>
            <a:ext cx="640080" cy="237744"/>
          </a:xfrm>
          <a:prstGeom prst="rect">
            <a:avLst/>
          </a:prstGeom>
          <a:solidFill>
            <a:srgbClr val="0596AA"/>
          </a:solidFill>
          <a:ln w="12700">
            <a:solidFill>
              <a:srgbClr val="0596A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806440" y="2743200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80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TTL Cache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6510528" y="2743200"/>
            <a:ext cx="2240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Stampede protection — concurrent threads share one DB result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5806440" y="3236976"/>
            <a:ext cx="640080" cy="237744"/>
          </a:xfrm>
          <a:prstGeom prst="rect">
            <a:avLst/>
          </a:prstGeom>
          <a:solidFill>
            <a:srgbClr val="0596AA"/>
          </a:solidFill>
          <a:ln w="12700">
            <a:solidFill>
              <a:srgbClr val="0596A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806440" y="3236976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80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 Indexes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6510528" y="3236976"/>
            <a:ext cx="2240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Eliminate full table scans on (match_id, puuid)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5806440" y="3730752"/>
            <a:ext cx="640080" cy="237744"/>
          </a:xfrm>
          <a:prstGeom prst="rect">
            <a:avLst/>
          </a:prstGeom>
          <a:solidFill>
            <a:srgbClr val="0596AA"/>
          </a:solidFill>
          <a:ln w="12700">
            <a:solidFill>
              <a:srgbClr val="0596A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806440" y="3730752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80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Statement Timeouts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6510528" y="3730752"/>
            <a:ext cx="2240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runaway queries under concurrent spike load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5806440" y="4224528"/>
            <a:ext cx="640080" cy="237744"/>
          </a:xfrm>
          <a:prstGeom prst="rect">
            <a:avLst/>
          </a:prstGeom>
          <a:solidFill>
            <a:srgbClr val="0596AA"/>
          </a:solidFill>
          <a:ln w="12700">
            <a:solidFill>
              <a:srgbClr val="0596A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806440" y="4224528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80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DB-First Pattern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6510528" y="4224528"/>
            <a:ext cx="2240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live Riot API calls during analytics reads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596AA"/>
          </a:solidFill>
          <a:ln w="12700">
            <a:solidFill>
              <a:srgbClr val="0596AA"/>
            </a:solidFill>
            <a:prstDash val="solid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89B3C"/>
          </a:solidFill>
          <a:ln w="12700">
            <a:solidFill>
              <a:srgbClr val="C89B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46304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400" kern="0" dirty="0">
                <a:solidFill>
                  <a:srgbClr val="05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39319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0E6D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API Performance &amp; Benchmark Results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932688"/>
            <a:ext cx="8138160" cy="22860"/>
          </a:xfrm>
          <a:prstGeom prst="rect">
            <a:avLst/>
          </a:prstGeom>
          <a:solidFill>
            <a:srgbClr val="C89B3C"/>
          </a:solidFill>
          <a:ln w="12700">
            <a:solidFill>
              <a:srgbClr val="C89B3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024128"/>
            <a:ext cx="8577072" cy="2084832"/>
          </a:xfrm>
          <a:prstGeom prst="rect">
            <a:avLst/>
          </a:prstGeom>
          <a:solidFill>
            <a:srgbClr val="16213E"/>
          </a:solidFill>
          <a:ln w="7620">
            <a:solidFill>
              <a:srgbClr val="C89B3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0972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9B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benchmark.sh  —  curl wall-clock timing (single request, loopback)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92608" y="1371600"/>
            <a:ext cx="8540496" cy="256032"/>
          </a:xfrm>
          <a:prstGeom prst="rect">
            <a:avLst/>
          </a:prstGeom>
          <a:solidFill>
            <a:srgbClr val="0596AA"/>
          </a:solidFill>
          <a:ln w="12700">
            <a:solidFill>
              <a:srgbClr val="0596A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472" y="1408176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80D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Endpoint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236976" y="1408176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80D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HTTP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950208" y="1408176"/>
            <a:ext cx="12070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80D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Time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212080" y="1408176"/>
            <a:ext cx="14264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80D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Target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675120" y="1408176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80D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Pass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47472" y="1682496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0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  (root health)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236976" y="1682496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0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950208" y="1682496"/>
            <a:ext cx="12070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212080" y="1682496"/>
            <a:ext cx="14264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0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2,000 ms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675120" y="1682496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92608" y="1920240"/>
            <a:ext cx="8540496" cy="256032"/>
          </a:xfrm>
          <a:prstGeom prst="rect">
            <a:avLst/>
          </a:prstGeom>
          <a:solidFill>
            <a:srgbClr val="0A1520"/>
          </a:solidFill>
          <a:ln w="12700">
            <a:solidFill>
              <a:srgbClr val="0A152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7472" y="1956816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0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/health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236976" y="1956816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0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950208" y="1956816"/>
            <a:ext cx="12070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212080" y="1956816"/>
            <a:ext cx="14264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0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2,000 ms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675120" y="1956816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347472" y="2231136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0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/players/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3236976" y="2231136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0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3950208" y="2231136"/>
            <a:ext cx="12070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922 ms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212080" y="2231136"/>
            <a:ext cx="14264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0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2,000 ms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675120" y="2231136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292608" y="2468880"/>
            <a:ext cx="8540496" cy="256032"/>
          </a:xfrm>
          <a:prstGeom prst="rect">
            <a:avLst/>
          </a:prstGeom>
          <a:solidFill>
            <a:srgbClr val="0A1520"/>
          </a:solidFill>
          <a:ln w="12700">
            <a:solidFill>
              <a:srgbClr val="0A152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47472" y="2505456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0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/analytics/bans/most-banned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3236976" y="2505456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0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3950208" y="2505456"/>
            <a:ext cx="12070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641 ms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5212080" y="2505456"/>
            <a:ext cx="14264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0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2,000 ms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6675120" y="2505456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347472" y="2779776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0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/metrics/player/{puuid}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3236976" y="2779776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0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3950208" y="2779776"/>
            <a:ext cx="12070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616 ms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5212080" y="2779776"/>
            <a:ext cx="14264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0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2,000 ms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6675120" y="2779776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292608" y="3017520"/>
            <a:ext cx="8540496" cy="256032"/>
          </a:xfrm>
          <a:prstGeom prst="rect">
            <a:avLst/>
          </a:prstGeom>
          <a:solidFill>
            <a:srgbClr val="0A1520"/>
          </a:solidFill>
          <a:ln w="12700">
            <a:solidFill>
              <a:srgbClr val="0A152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47472" y="3054096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0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/backfill/status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3236976" y="3054096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0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3950208" y="3054096"/>
            <a:ext cx="12070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623 ms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5212080" y="3054096"/>
            <a:ext cx="14264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0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2,000 ms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6675120" y="3054096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274320" y="3236976"/>
            <a:ext cx="8577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89B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Derived Metrics Coverage — GET /backfill/status</a:t>
            </a:r>
            <a:endParaRPr lang="en-US" sz="1250" dirty="0"/>
          </a:p>
        </p:txBody>
      </p:sp>
      <p:sp>
        <p:nvSpPr>
          <p:cNvPr id="48" name="Shape 46"/>
          <p:cNvSpPr/>
          <p:nvPr/>
        </p:nvSpPr>
        <p:spPr>
          <a:xfrm>
            <a:off x="274320" y="3566160"/>
            <a:ext cx="2011680" cy="1097280"/>
          </a:xfrm>
          <a:prstGeom prst="rect">
            <a:avLst/>
          </a:prstGeom>
          <a:solidFill>
            <a:srgbClr val="16213E"/>
          </a:solidFill>
          <a:ln w="7620">
            <a:solidFill>
              <a:srgbClr val="C89B3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49" name="Text 47"/>
          <p:cNvSpPr/>
          <p:nvPr/>
        </p:nvSpPr>
        <p:spPr>
          <a:xfrm>
            <a:off x="274320" y="3639312"/>
            <a:ext cx="2011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8B8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36,100</a:t>
            </a:r>
            <a:endParaRPr lang="en-US" sz="2400" dirty="0"/>
          </a:p>
        </p:txBody>
      </p:sp>
      <p:sp>
        <p:nvSpPr>
          <p:cNvPr id="50" name="Text 48"/>
          <p:cNvSpPr/>
          <p:nvPr/>
        </p:nvSpPr>
        <p:spPr>
          <a:xfrm>
            <a:off x="347472" y="4160520"/>
            <a:ext cx="18653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Participant-match rows stored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2450592" y="3566160"/>
            <a:ext cx="2011680" cy="1097280"/>
          </a:xfrm>
          <a:prstGeom prst="rect">
            <a:avLst/>
          </a:prstGeom>
          <a:solidFill>
            <a:srgbClr val="1A2847"/>
          </a:solidFill>
          <a:ln w="7620">
            <a:solidFill>
              <a:srgbClr val="C89B3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52" name="Text 50"/>
          <p:cNvSpPr/>
          <p:nvPr/>
        </p:nvSpPr>
        <p:spPr>
          <a:xfrm>
            <a:off x="2450592" y="3639312"/>
            <a:ext cx="2011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2C5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36,100</a:t>
            </a:r>
            <a:endParaRPr lang="en-US" sz="2400" dirty="0"/>
          </a:p>
        </p:txBody>
      </p:sp>
      <p:sp>
        <p:nvSpPr>
          <p:cNvPr id="53" name="Text 51"/>
          <p:cNvSpPr/>
          <p:nvPr/>
        </p:nvSpPr>
        <p:spPr>
          <a:xfrm>
            <a:off x="2523744" y="4160520"/>
            <a:ext cx="18653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with derived metrics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4626864" y="3566160"/>
            <a:ext cx="2011680" cy="1097280"/>
          </a:xfrm>
          <a:prstGeom prst="rect">
            <a:avLst/>
          </a:prstGeom>
          <a:solidFill>
            <a:srgbClr val="16213E"/>
          </a:solidFill>
          <a:ln w="7620">
            <a:solidFill>
              <a:srgbClr val="C89B3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55" name="Text 53"/>
          <p:cNvSpPr/>
          <p:nvPr/>
        </p:nvSpPr>
        <p:spPr>
          <a:xfrm>
            <a:off x="4626864" y="3639312"/>
            <a:ext cx="2011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2C5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100.0%</a:t>
            </a:r>
            <a:endParaRPr lang="en-US" sz="2400" dirty="0"/>
          </a:p>
        </p:txBody>
      </p:sp>
      <p:sp>
        <p:nvSpPr>
          <p:cNvPr id="56" name="Text 54"/>
          <p:cNvSpPr/>
          <p:nvPr/>
        </p:nvSpPr>
        <p:spPr>
          <a:xfrm>
            <a:off x="4700016" y="4160520"/>
            <a:ext cx="18653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percentage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6803136" y="3566160"/>
            <a:ext cx="2011680" cy="1097280"/>
          </a:xfrm>
          <a:prstGeom prst="rect">
            <a:avLst/>
          </a:prstGeom>
          <a:solidFill>
            <a:srgbClr val="1A2847"/>
          </a:solidFill>
          <a:ln w="7620">
            <a:solidFill>
              <a:srgbClr val="C89B3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58" name="Text 56"/>
          <p:cNvSpPr/>
          <p:nvPr/>
        </p:nvSpPr>
        <p:spPr>
          <a:xfrm>
            <a:off x="6803136" y="3639312"/>
            <a:ext cx="2011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2C5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2400" dirty="0"/>
          </a:p>
        </p:txBody>
      </p:sp>
      <p:sp>
        <p:nvSpPr>
          <p:cNvPr id="59" name="Text 57"/>
          <p:cNvSpPr/>
          <p:nvPr/>
        </p:nvSpPr>
        <p:spPr>
          <a:xfrm>
            <a:off x="6876288" y="4160520"/>
            <a:ext cx="18653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Meets 95% goal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596AA"/>
          </a:solidFill>
          <a:ln w="12700">
            <a:solidFill>
              <a:srgbClr val="0596AA"/>
            </a:solidFill>
            <a:prstDash val="solid"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89B3C"/>
          </a:solidFill>
          <a:ln w="12700">
            <a:solidFill>
              <a:srgbClr val="C89B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46304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400" kern="0" dirty="0">
                <a:solidFill>
                  <a:srgbClr val="05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39319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0E6D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Project Scale &amp; Development Scope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932688"/>
            <a:ext cx="8138160" cy="22860"/>
          </a:xfrm>
          <a:prstGeom prst="rect">
            <a:avLst/>
          </a:prstGeom>
          <a:solidFill>
            <a:srgbClr val="C89B3C"/>
          </a:solidFill>
          <a:ln w="12700">
            <a:solidFill>
              <a:srgbClr val="C89B3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024128"/>
            <a:ext cx="2697480" cy="1115568"/>
          </a:xfrm>
          <a:prstGeom prst="rect">
            <a:avLst/>
          </a:prstGeom>
          <a:solidFill>
            <a:srgbClr val="16213E"/>
          </a:solidFill>
          <a:ln w="7620">
            <a:solidFill>
              <a:srgbClr val="C89B3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74320" y="1097280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B8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89+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365760" y="1755648"/>
            <a:ext cx="2514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Commits by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developer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154680" y="1024128"/>
            <a:ext cx="2697480" cy="1115568"/>
          </a:xfrm>
          <a:prstGeom prst="rect">
            <a:avLst/>
          </a:prstGeom>
          <a:solidFill>
            <a:srgbClr val="16213E"/>
          </a:solidFill>
          <a:ln w="7620">
            <a:solidFill>
              <a:srgbClr val="C89B3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154680" y="1097280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AB8C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85%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3246120" y="1755648"/>
            <a:ext cx="2514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 activity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Ebrain M.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035040" y="1024128"/>
            <a:ext cx="2697480" cy="1115568"/>
          </a:xfrm>
          <a:prstGeom prst="rect">
            <a:avLst/>
          </a:prstGeom>
          <a:solidFill>
            <a:srgbClr val="16213E"/>
          </a:solidFill>
          <a:ln w="7620">
            <a:solidFill>
              <a:srgbClr val="C89B3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035040" y="1097280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B8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6126480" y="1755648"/>
            <a:ext cx="2514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models trained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deployed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74320" y="2304288"/>
            <a:ext cx="2697480" cy="1115568"/>
          </a:xfrm>
          <a:prstGeom prst="rect">
            <a:avLst/>
          </a:prstGeom>
          <a:solidFill>
            <a:srgbClr val="16213E"/>
          </a:solidFill>
          <a:ln w="7620">
            <a:solidFill>
              <a:srgbClr val="C89B3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274320" y="2377440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AB8C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365760" y="3035808"/>
            <a:ext cx="2514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tables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(Prisma-managed)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154680" y="2304288"/>
            <a:ext cx="2697480" cy="1115568"/>
          </a:xfrm>
          <a:prstGeom prst="rect">
            <a:avLst/>
          </a:prstGeom>
          <a:solidFill>
            <a:srgbClr val="16213E"/>
          </a:solidFill>
          <a:ln w="7620">
            <a:solidFill>
              <a:srgbClr val="C89B3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154680" y="2377440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B8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3246120" y="3035808"/>
            <a:ext cx="2514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phases over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10-week sprint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035040" y="2304288"/>
            <a:ext cx="2697480" cy="1115568"/>
          </a:xfrm>
          <a:prstGeom prst="rect">
            <a:avLst/>
          </a:prstGeom>
          <a:solidFill>
            <a:srgbClr val="16213E"/>
          </a:solidFill>
          <a:ln w="7620">
            <a:solidFill>
              <a:srgbClr val="C89B3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035040" y="2377440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2C5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$0</a:t>
            </a:r>
            <a:endParaRPr lang="en-US" sz="3600" dirty="0"/>
          </a:p>
        </p:txBody>
      </p:sp>
      <p:sp>
        <p:nvSpPr>
          <p:cNvPr id="23" name="Text 21"/>
          <p:cNvSpPr/>
          <p:nvPr/>
        </p:nvSpPr>
        <p:spPr>
          <a:xfrm>
            <a:off x="6126480" y="3035808"/>
            <a:ext cx="2514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infra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(free-tier)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274320" y="3639312"/>
            <a:ext cx="8577072" cy="1097280"/>
          </a:xfrm>
          <a:prstGeom prst="rect">
            <a:avLst/>
          </a:prstGeom>
          <a:solidFill>
            <a:srgbClr val="1A2847"/>
          </a:solidFill>
          <a:ln w="7620">
            <a:solidFill>
              <a:srgbClr val="C89B3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57200" y="371246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9B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6-Phase Development Timeline  (March – May 2026)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11480" y="4041648"/>
            <a:ext cx="1261872" cy="457200"/>
          </a:xfrm>
          <a:prstGeom prst="rect">
            <a:avLst/>
          </a:prstGeom>
          <a:solidFill>
            <a:srgbClr val="0596AA"/>
          </a:solidFill>
          <a:ln w="12700">
            <a:solidFill>
              <a:srgbClr val="0596A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11480" y="4041648"/>
            <a:ext cx="1261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80D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Ph.1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11480" y="4224528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80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080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Schema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1682496" y="4133088"/>
            <a:ext cx="1188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A8F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&gt;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1810512" y="4041648"/>
            <a:ext cx="1261872" cy="457200"/>
          </a:xfrm>
          <a:prstGeom prst="rect">
            <a:avLst/>
          </a:prstGeom>
          <a:solidFill>
            <a:srgbClr val="0596AA"/>
          </a:solidFill>
          <a:ln w="12700">
            <a:solidFill>
              <a:srgbClr val="0596A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810512" y="4041648"/>
            <a:ext cx="1261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80D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Ph.2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810512" y="4224528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80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API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080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Ingestion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3081528" y="4133088"/>
            <a:ext cx="1188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A8F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&gt;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209544" y="4041648"/>
            <a:ext cx="1261872" cy="457200"/>
          </a:xfrm>
          <a:prstGeom prst="rect">
            <a:avLst/>
          </a:prstGeom>
          <a:solidFill>
            <a:srgbClr val="0596AA"/>
          </a:solidFill>
          <a:ln w="12700">
            <a:solidFill>
              <a:srgbClr val="0596A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209544" y="4041648"/>
            <a:ext cx="1261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80D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Ph.3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3209544" y="4224528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80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Pipeline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080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Analytics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4480560" y="4133088"/>
            <a:ext cx="1188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A8F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&gt;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608576" y="4041648"/>
            <a:ext cx="1261872" cy="457200"/>
          </a:xfrm>
          <a:prstGeom prst="rect">
            <a:avLst/>
          </a:prstGeom>
          <a:solidFill>
            <a:srgbClr val="0596AA"/>
          </a:solidFill>
          <a:ln w="12700">
            <a:solidFill>
              <a:srgbClr val="0596A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608576" y="4041648"/>
            <a:ext cx="1261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80D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Ph.4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608576" y="4224528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80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Insights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080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Testing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5879592" y="4133088"/>
            <a:ext cx="1188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A8F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&gt;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6007608" y="4041648"/>
            <a:ext cx="1261872" cy="457200"/>
          </a:xfrm>
          <a:prstGeom prst="rect">
            <a:avLst/>
          </a:prstGeom>
          <a:solidFill>
            <a:srgbClr val="0596AA"/>
          </a:solidFill>
          <a:ln w="12700">
            <a:solidFill>
              <a:srgbClr val="0596A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007608" y="4041648"/>
            <a:ext cx="1261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80D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Ph.5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6007608" y="4224528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80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&amp;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080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Perf. Tuning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7278624" y="4133088"/>
            <a:ext cx="1188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A8F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&gt;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7406640" y="4041648"/>
            <a:ext cx="1261872" cy="457200"/>
          </a:xfrm>
          <a:prstGeom prst="rect">
            <a:avLst/>
          </a:prstGeom>
          <a:solidFill>
            <a:srgbClr val="C89B3C"/>
          </a:solidFill>
          <a:ln w="12700">
            <a:solidFill>
              <a:srgbClr val="C89B3C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406640" y="4041648"/>
            <a:ext cx="1261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80D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Ph.6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7406640" y="4224528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80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Caching &amp;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080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 Test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596AA"/>
          </a:solidFill>
          <a:ln w="12700">
            <a:solidFill>
              <a:srgbClr val="0596AA"/>
            </a:solidFill>
            <a:prstDash val="solid"/>
          </a:ln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8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89B3C"/>
          </a:solidFill>
          <a:ln w="12700">
            <a:solidFill>
              <a:srgbClr val="C89B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54864" cy="5070348"/>
          </a:xfrm>
          <a:prstGeom prst="rect">
            <a:avLst/>
          </a:prstGeom>
          <a:solidFill>
            <a:srgbClr val="0596AA"/>
          </a:solidFill>
          <a:ln w="12700">
            <a:solidFill>
              <a:srgbClr val="0596A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46304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400" kern="0" dirty="0">
                <a:solidFill>
                  <a:srgbClr val="05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384048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0E6D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Takeaways &amp; Future Work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02920" y="932688"/>
            <a:ext cx="8138160" cy="22860"/>
          </a:xfrm>
          <a:prstGeom prst="rect">
            <a:avLst/>
          </a:prstGeom>
          <a:solidFill>
            <a:srgbClr val="C89B3C"/>
          </a:solidFill>
          <a:ln w="12700">
            <a:solidFill>
              <a:srgbClr val="C89B3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024128"/>
            <a:ext cx="5074920" cy="3730752"/>
          </a:xfrm>
          <a:prstGeom prst="rect">
            <a:avLst/>
          </a:prstGeom>
          <a:solidFill>
            <a:srgbClr val="16213E"/>
          </a:solidFill>
          <a:ln w="7620">
            <a:solidFill>
              <a:srgbClr val="C89B3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7200" y="1097280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89B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Achievements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75488" y="1572768"/>
            <a:ext cx="109728" cy="109728"/>
          </a:xfrm>
          <a:prstGeom prst="oval">
            <a:avLst/>
          </a:prstGeom>
          <a:solidFill>
            <a:srgbClr val="0596AA"/>
          </a:solidFill>
          <a:ln w="12700">
            <a:solidFill>
              <a:srgbClr val="0596A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94944" y="1517904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5 SMART goals met or significantly exceeded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75488" y="1956816"/>
            <a:ext cx="109728" cy="109728"/>
          </a:xfrm>
          <a:prstGeom prst="oval">
            <a:avLst/>
          </a:prstGeom>
          <a:solidFill>
            <a:srgbClr val="0596AA"/>
          </a:solidFill>
          <a:ln w="12700">
            <a:solidFill>
              <a:srgbClr val="0596A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94944" y="1901952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production system deployed at $0/month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75488" y="2340864"/>
            <a:ext cx="109728" cy="109728"/>
          </a:xfrm>
          <a:prstGeom prst="oval">
            <a:avLst/>
          </a:prstGeom>
          <a:solidFill>
            <a:srgbClr val="0596AA"/>
          </a:solidFill>
          <a:ln w="12700">
            <a:solidFill>
              <a:srgbClr val="0596A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94944" y="2286000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ML models trained and serving real predictions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75488" y="2724912"/>
            <a:ext cx="109728" cy="109728"/>
          </a:xfrm>
          <a:prstGeom prst="oval">
            <a:avLst/>
          </a:prstGeom>
          <a:solidFill>
            <a:srgbClr val="0596AA"/>
          </a:solidFill>
          <a:ln w="12700">
            <a:solidFill>
              <a:srgbClr val="0596A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94944" y="2670048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50-concurrent-user stress test passed with 0% failures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75488" y="3108960"/>
            <a:ext cx="109728" cy="109728"/>
          </a:xfrm>
          <a:prstGeom prst="oval">
            <a:avLst/>
          </a:prstGeom>
          <a:solidFill>
            <a:srgbClr val="0596AA"/>
          </a:solidFill>
          <a:ln w="12700">
            <a:solidFill>
              <a:srgbClr val="0596A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94944" y="3054096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14,205 players and 36,100 match rows processed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75488" y="3493008"/>
            <a:ext cx="109728" cy="109728"/>
          </a:xfrm>
          <a:prstGeom prst="oval">
            <a:avLst/>
          </a:prstGeom>
          <a:solidFill>
            <a:srgbClr val="0596AA"/>
          </a:solidFill>
          <a:ln w="12700">
            <a:solidFill>
              <a:srgbClr val="0596A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94944" y="3438144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with pytest + flake8 enforced on every commit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75488" y="3877056"/>
            <a:ext cx="109728" cy="109728"/>
          </a:xfrm>
          <a:prstGeom prst="oval">
            <a:avLst/>
          </a:prstGeom>
          <a:solidFill>
            <a:srgbClr val="0596AA"/>
          </a:solidFill>
          <a:ln w="12700">
            <a:solidFill>
              <a:srgbClr val="0596A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94944" y="3822192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lifecycle: requirements to design to deploy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532120" y="1024128"/>
            <a:ext cx="3319272" cy="1792224"/>
          </a:xfrm>
          <a:prstGeom prst="rect">
            <a:avLst/>
          </a:prstGeom>
          <a:solidFill>
            <a:srgbClr val="1A2847"/>
          </a:solidFill>
          <a:ln w="7620">
            <a:solidFill>
              <a:srgbClr val="C89B3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715000" y="1097280"/>
            <a:ext cx="2953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596A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Lessons Learned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687568" y="1499616"/>
            <a:ext cx="109728" cy="109728"/>
          </a:xfrm>
          <a:prstGeom prst="oval">
            <a:avLst/>
          </a:prstGeom>
          <a:solidFill>
            <a:srgbClr val="0596AA"/>
          </a:solidFill>
          <a:ln w="12700">
            <a:solidFill>
              <a:srgbClr val="0596A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07024" y="1444752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data splits are critical for honest ML evaluation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5687568" y="1883664"/>
            <a:ext cx="109728" cy="109728"/>
          </a:xfrm>
          <a:prstGeom prst="oval">
            <a:avLst/>
          </a:prstGeom>
          <a:solidFill>
            <a:srgbClr val="0596AA"/>
          </a:solidFill>
          <a:ln w="12700">
            <a:solidFill>
              <a:srgbClr val="0596A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907024" y="182880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problems require measurement-first thinking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687568" y="2267712"/>
            <a:ext cx="109728" cy="109728"/>
          </a:xfrm>
          <a:prstGeom prst="oval">
            <a:avLst/>
          </a:prstGeom>
          <a:solidFill>
            <a:srgbClr val="0596AA"/>
          </a:solidFill>
          <a:ln w="12700">
            <a:solidFill>
              <a:srgbClr val="0596A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907024" y="2212848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gates prevent models training on bad sample sizes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5532120" y="2962656"/>
            <a:ext cx="3319272" cy="1792224"/>
          </a:xfrm>
          <a:prstGeom prst="rect">
            <a:avLst/>
          </a:prstGeom>
          <a:solidFill>
            <a:srgbClr val="1A2847"/>
          </a:solidFill>
          <a:ln w="7620">
            <a:solidFill>
              <a:srgbClr val="C89B3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5715000" y="3035808"/>
            <a:ext cx="2953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9B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Future Work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5687568" y="3438144"/>
            <a:ext cx="109728" cy="109728"/>
          </a:xfrm>
          <a:prstGeom prst="oval">
            <a:avLst/>
          </a:prstGeom>
          <a:solidFill>
            <a:srgbClr val="C89B3C"/>
          </a:solidFill>
          <a:ln w="12700">
            <a:solidFill>
              <a:srgbClr val="C89B3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907024" y="3383280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 ingestion for real-time match tracking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5687568" y="3785616"/>
            <a:ext cx="109728" cy="109728"/>
          </a:xfrm>
          <a:prstGeom prst="oval">
            <a:avLst/>
          </a:prstGeom>
          <a:solidFill>
            <a:srgbClr val="C89B3C"/>
          </a:solidFill>
          <a:ln w="12700">
            <a:solidFill>
              <a:srgbClr val="C89B3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907024" y="3730752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retraining on patch update schedule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5687568" y="4133088"/>
            <a:ext cx="109728" cy="109728"/>
          </a:xfrm>
          <a:prstGeom prst="oval">
            <a:avLst/>
          </a:prstGeom>
          <a:solidFill>
            <a:srgbClr val="C89B3C"/>
          </a:solidFill>
          <a:ln w="12700">
            <a:solidFill>
              <a:srgbClr val="C89B3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907024" y="4078224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Champion recommendations with patch meta context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5687568" y="4480560"/>
            <a:ext cx="109728" cy="109728"/>
          </a:xfrm>
          <a:prstGeom prst="oval">
            <a:avLst/>
          </a:prstGeom>
          <a:solidFill>
            <a:srgbClr val="C89B3C"/>
          </a:solidFill>
          <a:ln w="12700">
            <a:solidFill>
              <a:srgbClr val="C89B3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907024" y="4425696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Multi-game support beyond League of Legends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C89B3C"/>
          </a:solidFill>
          <a:ln w="12700">
            <a:solidFill>
              <a:srgbClr val="C89B3C"/>
            </a:solidFill>
            <a:prstDash val="solid"/>
          </a:ln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8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596AA"/>
          </a:solidFill>
          <a:ln w="12700">
            <a:solidFill>
              <a:srgbClr val="0596A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54864" cy="5070348"/>
          </a:xfrm>
          <a:prstGeom prst="rect">
            <a:avLst/>
          </a:prstGeom>
          <a:solidFill>
            <a:srgbClr val="C89B3C"/>
          </a:solidFill>
          <a:ln w="12700">
            <a:solidFill>
              <a:srgbClr val="C89B3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261872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spc="800" kern="0" dirty="0">
                <a:solidFill>
                  <a:srgbClr val="F0E6D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LIVE DEMO</a:t>
            </a:r>
            <a:endParaRPr lang="en-US" sz="6400" dirty="0"/>
          </a:p>
        </p:txBody>
      </p:sp>
      <p:sp>
        <p:nvSpPr>
          <p:cNvPr id="5" name="Shape 3"/>
          <p:cNvSpPr/>
          <p:nvPr/>
        </p:nvSpPr>
        <p:spPr>
          <a:xfrm>
            <a:off x="2743200" y="2359152"/>
            <a:ext cx="3657600" cy="54864"/>
          </a:xfrm>
          <a:prstGeom prst="rect">
            <a:avLst/>
          </a:prstGeom>
          <a:solidFill>
            <a:srgbClr val="C89B3C"/>
          </a:solidFill>
          <a:ln w="12700">
            <a:solidFill>
              <a:srgbClr val="C89B3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487168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Esports Analytics Platform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097280" y="3090672"/>
            <a:ext cx="3383280" cy="420624"/>
          </a:xfrm>
          <a:prstGeom prst="rect">
            <a:avLst/>
          </a:prstGeom>
          <a:solidFill>
            <a:srgbClr val="1A2847"/>
          </a:solidFill>
          <a:ln w="10160">
            <a:solidFill>
              <a:srgbClr val="0596A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07008" y="3172968"/>
            <a:ext cx="31638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&gt;  Player ingestion and normalized KPI dashboard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846320" y="3090672"/>
            <a:ext cx="3383280" cy="420624"/>
          </a:xfrm>
          <a:prstGeom prst="rect">
            <a:avLst/>
          </a:prstGeom>
          <a:solidFill>
            <a:srgbClr val="1A2847"/>
          </a:solidFill>
          <a:ln w="10160">
            <a:solidFill>
              <a:srgbClr val="0596A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56048" y="3172968"/>
            <a:ext cx="31638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&gt;  Champion recommendation engine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097280" y="3621024"/>
            <a:ext cx="3383280" cy="420624"/>
          </a:xfrm>
          <a:prstGeom prst="rect">
            <a:avLst/>
          </a:prstGeom>
          <a:solidFill>
            <a:srgbClr val="1A2847"/>
          </a:solidFill>
          <a:ln w="10160">
            <a:solidFill>
              <a:srgbClr val="0596A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07008" y="3703320"/>
            <a:ext cx="31638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&gt;  Team matchup analysis and threat scores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846320" y="3621024"/>
            <a:ext cx="3383280" cy="420624"/>
          </a:xfrm>
          <a:prstGeom prst="rect">
            <a:avLst/>
          </a:prstGeom>
          <a:solidFill>
            <a:srgbClr val="1A2847"/>
          </a:solidFill>
          <a:ln w="10160">
            <a:solidFill>
              <a:srgbClr val="0596A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56048" y="3703320"/>
            <a:ext cx="31638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&gt;  Pre-match win probability predictions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C89B3C"/>
          </a:solidFill>
          <a:ln w="12700">
            <a:solidFill>
              <a:srgbClr val="C89B3C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Esports Analytics Platform — Capstone Final Presentation</dc:title>
  <dc:subject>PptxGenJS Presentation</dc:subject>
  <dc:creator>Ebrain Mendoza</dc:creator>
  <cp:lastModifiedBy>Ebrain Mendoza</cp:lastModifiedBy>
  <cp:revision>1</cp:revision>
  <dcterms:created xsi:type="dcterms:W3CDTF">2026-05-12T22:27:10Z</dcterms:created>
  <dcterms:modified xsi:type="dcterms:W3CDTF">2026-05-12T22:27:10Z</dcterms:modified>
</cp:coreProperties>
</file>